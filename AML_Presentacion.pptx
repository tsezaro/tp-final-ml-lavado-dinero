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65" r:id="rId2"/>
    <p:sldId id="257" r:id="rId3"/>
    <p:sldId id="258" r:id="rId4"/>
    <p:sldId id="259" r:id="rId5"/>
    <p:sldId id="260" r:id="rId6"/>
    <p:sldId id="261" r:id="rId7"/>
    <p:sldId id="262" r:id="rId8"/>
    <p:sldId id="263" r:id="rId9"/>
    <p:sldId id="264"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98" d="100"/>
          <a:sy n="98" d="100"/>
        </p:scale>
        <p:origin x="1018"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6045FE-D41A-445D-A2B8-296F19212A6A}" type="datetimeFigureOut">
              <a:rPr lang="es-AR" smtClean="0"/>
              <a:t>21/3/2026</a:t>
            </a:fld>
            <a:endParaRPr lang="es-AR"/>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2FD233-0D4D-475C-B7BD-657CE66B0663}" type="slidenum">
              <a:rPr lang="es-AR" smtClean="0"/>
              <a:t>‹Nº›</a:t>
            </a:fld>
            <a:endParaRPr lang="es-AR"/>
          </a:p>
        </p:txBody>
      </p:sp>
    </p:spTree>
    <p:extLst>
      <p:ext uri="{BB962C8B-B14F-4D97-AF65-F5344CB8AC3E}">
        <p14:creationId xmlns:p14="http://schemas.microsoft.com/office/powerpoint/2010/main" val="5267755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AR"/>
          </a:p>
        </p:txBody>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082FD233-0D4D-475C-B7BD-657CE66B0663}" type="slidenum">
              <a:rPr lang="es-AR" smtClean="0"/>
              <a:t>1</a:t>
            </a:fld>
            <a:endParaRPr lang="es-AR"/>
          </a:p>
        </p:txBody>
      </p:sp>
    </p:spTree>
    <p:extLst>
      <p:ext uri="{BB962C8B-B14F-4D97-AF65-F5344CB8AC3E}">
        <p14:creationId xmlns:p14="http://schemas.microsoft.com/office/powerpoint/2010/main" val="8680807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C72579A4-B212-F2F5-FC38-51418BB5CD0E}"/>
              </a:ext>
            </a:extLst>
          </p:cNvPr>
          <p:cNvPicPr>
            <a:picLocks noChangeAspect="1"/>
          </p:cNvPicPr>
          <p:nvPr/>
        </p:nvPicPr>
        <p:blipFill>
          <a:blip r:embed="rId3"/>
          <a:stretch>
            <a:fillRect/>
          </a:stretch>
        </p:blipFill>
        <p:spPr>
          <a:xfrm>
            <a:off x="1361872" y="0"/>
            <a:ext cx="6770451" cy="4556903"/>
          </a:xfrm>
          <a:prstGeom prst="rect">
            <a:avLst/>
          </a:prstGeom>
        </p:spPr>
      </p:pic>
      <p:pic>
        <p:nvPicPr>
          <p:cNvPr id="7" name="Imagen 6">
            <a:extLst>
              <a:ext uri="{FF2B5EF4-FFF2-40B4-BE49-F238E27FC236}">
                <a16:creationId xmlns:a16="http://schemas.microsoft.com/office/drawing/2014/main" id="{8916FC1F-B13C-2477-898B-B0DE86E37A4D}"/>
              </a:ext>
            </a:extLst>
          </p:cNvPr>
          <p:cNvPicPr>
            <a:picLocks noChangeAspect="1"/>
          </p:cNvPicPr>
          <p:nvPr/>
        </p:nvPicPr>
        <p:blipFill>
          <a:blip r:embed="rId4"/>
          <a:stretch>
            <a:fillRect/>
          </a:stretch>
        </p:blipFill>
        <p:spPr>
          <a:xfrm>
            <a:off x="56520" y="4400431"/>
            <a:ext cx="8075803" cy="1533380"/>
          </a:xfrm>
          <a:prstGeom prst="rect">
            <a:avLst/>
          </a:prstGeom>
        </p:spPr>
      </p:pic>
      <p:sp>
        <p:nvSpPr>
          <p:cNvPr id="9" name="CuadroTexto 8">
            <a:extLst>
              <a:ext uri="{FF2B5EF4-FFF2-40B4-BE49-F238E27FC236}">
                <a16:creationId xmlns:a16="http://schemas.microsoft.com/office/drawing/2014/main" id="{A2B4BB4A-9CBA-BDF9-3C51-C9D5F62502E1}"/>
              </a:ext>
            </a:extLst>
          </p:cNvPr>
          <p:cNvSpPr txBox="1"/>
          <p:nvPr/>
        </p:nvSpPr>
        <p:spPr>
          <a:xfrm>
            <a:off x="403659" y="5755624"/>
            <a:ext cx="7033098" cy="923330"/>
          </a:xfrm>
          <a:prstGeom prst="rect">
            <a:avLst/>
          </a:prstGeom>
          <a:noFill/>
        </p:spPr>
        <p:txBody>
          <a:bodyPr wrap="square">
            <a:spAutoFit/>
          </a:bodyPr>
          <a:lstStyle/>
          <a:p>
            <a:pPr algn="l"/>
            <a:endParaRPr lang="es-AR" sz="1600" b="0" i="0" u="none" strike="noStrike" baseline="0" noProof="0" dirty="0">
              <a:solidFill>
                <a:srgbClr val="000000"/>
              </a:solidFill>
              <a:latin typeface="Arial" panose="020B0604020202020204" pitchFamily="34" charset="0"/>
            </a:endParaRPr>
          </a:p>
          <a:p>
            <a:r>
              <a:rPr lang="es-AR" sz="1600" b="0" i="0" u="none" strike="noStrike" baseline="0" noProof="0" dirty="0">
                <a:solidFill>
                  <a:srgbClr val="000000"/>
                </a:solidFill>
                <a:latin typeface="Arial" panose="020B0604020202020204" pitchFamily="34" charset="0"/>
              </a:rPr>
              <a:t> </a:t>
            </a:r>
            <a:r>
              <a:rPr lang="es-AR" sz="2000" b="1" i="0" u="none" strike="noStrike" baseline="0" noProof="0" dirty="0">
                <a:solidFill>
                  <a:srgbClr val="ED0000"/>
                </a:solidFill>
                <a:latin typeface="Arial" panose="020B0604020202020204" pitchFamily="34" charset="0"/>
              </a:rPr>
              <a:t>Integrantes: </a:t>
            </a:r>
            <a:endParaRPr lang="es-AR" sz="2000" b="0" i="0" u="none" strike="noStrike" baseline="0" noProof="0" dirty="0">
              <a:solidFill>
                <a:srgbClr val="ED0000"/>
              </a:solidFill>
              <a:latin typeface="Arial" panose="020B0604020202020204" pitchFamily="34" charset="0"/>
            </a:endParaRPr>
          </a:p>
          <a:p>
            <a:r>
              <a:rPr lang="es-AR" sz="1800" b="0" i="0" u="none" strike="noStrike" baseline="0" noProof="0" dirty="0">
                <a:solidFill>
                  <a:srgbClr val="000000"/>
                </a:solidFill>
                <a:latin typeface="Arial" panose="020B0604020202020204" pitchFamily="34" charset="0"/>
              </a:rPr>
              <a:t>● Sezaro, Tomás ● Islas, Cecilia ● Frias, Noelia ● Gottig, Nicolas  </a:t>
            </a:r>
            <a:endParaRPr lang="es-AR" noProof="0" dirty="0"/>
          </a:p>
        </p:txBody>
      </p:sp>
    </p:spTree>
    <p:extLst>
      <p:ext uri="{BB962C8B-B14F-4D97-AF65-F5344CB8AC3E}">
        <p14:creationId xmlns:p14="http://schemas.microsoft.com/office/powerpoint/2010/main" val="41854830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AR" noProof="0" dirty="0">
                <a:solidFill>
                  <a:srgbClr val="FF0000"/>
                </a:solidFill>
              </a:rPr>
              <a:t>Resumen Ejecutivo</a:t>
            </a:r>
          </a:p>
        </p:txBody>
      </p:sp>
      <p:sp>
        <p:nvSpPr>
          <p:cNvPr id="3" name="Content Placeholder 2"/>
          <p:cNvSpPr>
            <a:spLocks noGrp="1"/>
          </p:cNvSpPr>
          <p:nvPr>
            <p:ph idx="1"/>
          </p:nvPr>
        </p:nvSpPr>
        <p:spPr/>
        <p:txBody>
          <a:bodyPr>
            <a:normAutofit fontScale="77500" lnSpcReduction="20000"/>
          </a:bodyPr>
          <a:lstStyle/>
          <a:p>
            <a:r>
              <a:rPr lang="es-ES" dirty="0"/>
              <a:t>Desarrollo de un modelo predictivo para detectar eventos relevantes a partir de datos históricos. </a:t>
            </a:r>
          </a:p>
          <a:p>
            <a:r>
              <a:rPr lang="es-ES" dirty="0"/>
              <a:t>Se evaluaron distintos algoritmos, seleccionando </a:t>
            </a:r>
            <a:r>
              <a:rPr lang="es-ES" b="1" dirty="0"/>
              <a:t>LightGBM</a:t>
            </a:r>
            <a:r>
              <a:rPr lang="es-ES" dirty="0"/>
              <a:t> como modelo principal. </a:t>
            </a:r>
          </a:p>
          <a:p>
            <a:r>
              <a:rPr lang="es-ES" dirty="0"/>
              <a:t>Alto desempeño: </a:t>
            </a:r>
          </a:p>
          <a:p>
            <a:pPr lvl="1"/>
            <a:r>
              <a:rPr lang="es-ES" b="1" dirty="0">
                <a:solidFill>
                  <a:srgbClr val="FF0000"/>
                </a:solidFill>
              </a:rPr>
              <a:t>ROC-AUC &gt; 0.98</a:t>
            </a:r>
            <a:r>
              <a:rPr lang="es-ES" dirty="0">
                <a:solidFill>
                  <a:srgbClr val="FF0000"/>
                </a:solidFill>
              </a:rPr>
              <a:t> </a:t>
            </a:r>
          </a:p>
          <a:p>
            <a:pPr lvl="1"/>
            <a:r>
              <a:rPr lang="es-ES" b="1" dirty="0">
                <a:solidFill>
                  <a:srgbClr val="FF0000"/>
                </a:solidFill>
              </a:rPr>
              <a:t>Recall &gt; 85%</a:t>
            </a:r>
            <a:r>
              <a:rPr lang="es-ES" dirty="0">
                <a:solidFill>
                  <a:srgbClr val="FF0000"/>
                </a:solidFill>
              </a:rPr>
              <a:t> </a:t>
            </a:r>
          </a:p>
          <a:p>
            <a:r>
              <a:rPr lang="es-ES" dirty="0"/>
              <a:t>Permite </a:t>
            </a:r>
            <a:r>
              <a:rPr lang="es-ES" b="1" dirty="0"/>
              <a:t>priorizar casos</a:t>
            </a:r>
            <a:r>
              <a:rPr lang="es-ES" dirty="0"/>
              <a:t>, optimizar recursos y mejorar la toma de decisiones. </a:t>
            </a:r>
          </a:p>
          <a:p>
            <a:r>
              <a:rPr lang="es-ES" dirty="0"/>
              <a:t>Aporta valor al negocio mediante </a:t>
            </a:r>
            <a:r>
              <a:rPr lang="es-ES" b="1" dirty="0"/>
              <a:t>detección temprana y eficiencia operativa</a:t>
            </a:r>
            <a:r>
              <a:rPr lang="es-ES" dirty="0"/>
              <a:t>. </a:t>
            </a:r>
          </a:p>
          <a:p>
            <a:r>
              <a:rPr lang="es-ES" dirty="0"/>
              <a:t>Desafío pendiente: mejorar la </a:t>
            </a:r>
            <a:r>
              <a:rPr lang="es-ES" b="1" dirty="0"/>
              <a:t>precisión</a:t>
            </a:r>
            <a:r>
              <a:rPr lang="es-ES" dirty="0"/>
              <a:t>, abriendo oportunidades futuras. </a:t>
            </a:r>
          </a:p>
        </p:txBody>
      </p:sp>
      <p:pic>
        <p:nvPicPr>
          <p:cNvPr id="5" name="Imagen 4">
            <a:extLst>
              <a:ext uri="{FF2B5EF4-FFF2-40B4-BE49-F238E27FC236}">
                <a16:creationId xmlns:a16="http://schemas.microsoft.com/office/drawing/2014/main" id="{16C29583-1C69-37A8-2646-A7E0AB29F724}"/>
              </a:ext>
            </a:extLst>
          </p:cNvPr>
          <p:cNvPicPr>
            <a:picLocks noChangeAspect="1"/>
          </p:cNvPicPr>
          <p:nvPr/>
        </p:nvPicPr>
        <p:blipFill>
          <a:blip r:embed="rId2"/>
          <a:stretch>
            <a:fillRect/>
          </a:stretch>
        </p:blipFill>
        <p:spPr>
          <a:xfrm>
            <a:off x="7217923" y="6188060"/>
            <a:ext cx="1926077" cy="6699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AR" noProof="0" dirty="0">
                <a:solidFill>
                  <a:srgbClr val="FF0000"/>
                </a:solidFill>
              </a:rPr>
              <a:t>Problema y Objetivo</a:t>
            </a:r>
          </a:p>
        </p:txBody>
      </p:sp>
      <p:sp>
        <p:nvSpPr>
          <p:cNvPr id="3" name="Content Placeholder 2"/>
          <p:cNvSpPr>
            <a:spLocks noGrp="1"/>
          </p:cNvSpPr>
          <p:nvPr>
            <p:ph idx="1"/>
          </p:nvPr>
        </p:nvSpPr>
        <p:spPr>
          <a:xfrm>
            <a:off x="661481" y="1541834"/>
            <a:ext cx="8229600" cy="4525963"/>
          </a:xfrm>
        </p:spPr>
        <p:txBody>
          <a:bodyPr>
            <a:normAutofit fontScale="55000" lnSpcReduction="20000"/>
          </a:bodyPr>
          <a:lstStyle/>
          <a:p>
            <a:pPr marL="0" indent="0">
              <a:buNone/>
            </a:pPr>
            <a:r>
              <a:rPr lang="es-ES" b="1" dirty="0"/>
              <a:t>Problema y Objetivo</a:t>
            </a:r>
          </a:p>
          <a:p>
            <a:r>
              <a:rPr lang="es-ES" dirty="0"/>
              <a:t>Necesidad de detectar </a:t>
            </a:r>
            <a:r>
              <a:rPr lang="es-ES" b="1" dirty="0"/>
              <a:t>eventos poco frecuentes, pero de alto impacto</a:t>
            </a:r>
            <a:r>
              <a:rPr lang="es-ES" dirty="0"/>
              <a:t> en el negocio. </a:t>
            </a:r>
          </a:p>
          <a:p>
            <a:r>
              <a:rPr lang="es-ES" dirty="0"/>
              <a:t>Objetivo: construir un modelo que estime la </a:t>
            </a:r>
            <a:r>
              <a:rPr lang="es-ES" b="1" dirty="0"/>
              <a:t>probabilidad de ocurrencia</a:t>
            </a:r>
            <a:r>
              <a:rPr lang="es-ES" dirty="0"/>
              <a:t> de estos eventos. </a:t>
            </a:r>
          </a:p>
          <a:p>
            <a:r>
              <a:rPr lang="es-ES" dirty="0"/>
              <a:t>Se prioriza un alto </a:t>
            </a:r>
            <a:r>
              <a:rPr lang="es-ES" b="1" dirty="0" err="1">
                <a:solidFill>
                  <a:srgbClr val="FF0000"/>
                </a:solidFill>
              </a:rPr>
              <a:t>recall</a:t>
            </a:r>
            <a:r>
              <a:rPr lang="es-ES" b="1" dirty="0">
                <a:solidFill>
                  <a:srgbClr val="FF0000"/>
                </a:solidFill>
              </a:rPr>
              <a:t> (&gt;85%)</a:t>
            </a:r>
            <a:r>
              <a:rPr lang="es-ES" dirty="0">
                <a:solidFill>
                  <a:srgbClr val="FF0000"/>
                </a:solidFill>
              </a:rPr>
              <a:t> </a:t>
            </a:r>
            <a:r>
              <a:rPr lang="es-ES" dirty="0"/>
              <a:t>para maximizar la detección de casos relevantes. </a:t>
            </a:r>
          </a:p>
          <a:p>
            <a:r>
              <a:rPr lang="es-ES" dirty="0"/>
              <a:t>Métricas clave: </a:t>
            </a:r>
            <a:r>
              <a:rPr lang="es-ES" b="1" dirty="0">
                <a:solidFill>
                  <a:srgbClr val="FF0000"/>
                </a:solidFill>
              </a:rPr>
              <a:t>ROC-AUC, Recall y F1-score</a:t>
            </a:r>
            <a:r>
              <a:rPr lang="es-ES" dirty="0">
                <a:solidFill>
                  <a:srgbClr val="FF0000"/>
                </a:solidFill>
              </a:rPr>
              <a:t>. </a:t>
            </a:r>
          </a:p>
          <a:p>
            <a:pPr marL="0" indent="0">
              <a:buNone/>
            </a:pPr>
            <a:br>
              <a:rPr lang="es-ES" dirty="0"/>
            </a:br>
            <a:endParaRPr lang="es-ES" dirty="0"/>
          </a:p>
          <a:p>
            <a:pPr marL="0" indent="0">
              <a:buNone/>
            </a:pPr>
            <a:r>
              <a:rPr lang="es-ES" b="1" dirty="0"/>
              <a:t>Valor Estratégico</a:t>
            </a:r>
          </a:p>
          <a:p>
            <a:r>
              <a:rPr lang="es-ES" dirty="0"/>
              <a:t>Permite </a:t>
            </a:r>
            <a:r>
              <a:rPr lang="es-ES" b="1" dirty="0"/>
              <a:t>priorizar casos</a:t>
            </a:r>
            <a:r>
              <a:rPr lang="es-ES" dirty="0"/>
              <a:t> y optimizar el uso de recursos. </a:t>
            </a:r>
          </a:p>
          <a:p>
            <a:r>
              <a:rPr lang="es-ES" dirty="0"/>
              <a:t>Habilita la acción de múltiples áreas: </a:t>
            </a:r>
          </a:p>
          <a:p>
            <a:pPr lvl="1"/>
            <a:r>
              <a:rPr lang="es-ES" dirty="0"/>
              <a:t>Riesgo / Control → revisión de casos </a:t>
            </a:r>
          </a:p>
          <a:p>
            <a:pPr lvl="1"/>
            <a:r>
              <a:rPr lang="es-ES" dirty="0"/>
              <a:t>Operaciones → ajustes de procesos </a:t>
            </a:r>
          </a:p>
          <a:p>
            <a:pPr lvl="1"/>
            <a:r>
              <a:rPr lang="es-ES" dirty="0"/>
              <a:t>Comercial / CX → acciones proactivas </a:t>
            </a:r>
          </a:p>
          <a:p>
            <a:r>
              <a:rPr lang="es-ES" dirty="0"/>
              <a:t>Evolución hacia un modelo de </a:t>
            </a:r>
            <a:r>
              <a:rPr lang="es-ES" b="1" dirty="0"/>
              <a:t>gestión por score</a:t>
            </a:r>
            <a:r>
              <a:rPr lang="es-ES" dirty="0"/>
              <a:t>. </a:t>
            </a:r>
          </a:p>
          <a:p>
            <a:r>
              <a:rPr lang="es-ES" dirty="0"/>
              <a:t>Base para </a:t>
            </a:r>
            <a:r>
              <a:rPr lang="es-ES" b="1" dirty="0"/>
              <a:t>automatización y toma de decisiones basada en datos</a:t>
            </a:r>
            <a:r>
              <a:rPr lang="es-ES" dirty="0"/>
              <a:t>.</a:t>
            </a:r>
          </a:p>
        </p:txBody>
      </p:sp>
      <p:pic>
        <p:nvPicPr>
          <p:cNvPr id="6" name="Imagen 5">
            <a:extLst>
              <a:ext uri="{FF2B5EF4-FFF2-40B4-BE49-F238E27FC236}">
                <a16:creationId xmlns:a16="http://schemas.microsoft.com/office/drawing/2014/main" id="{12C416F4-E761-0ADC-25C2-293AE679016E}"/>
              </a:ext>
            </a:extLst>
          </p:cNvPr>
          <p:cNvPicPr>
            <a:picLocks noChangeAspect="1"/>
          </p:cNvPicPr>
          <p:nvPr/>
        </p:nvPicPr>
        <p:blipFill>
          <a:blip r:embed="rId2"/>
          <a:stretch>
            <a:fillRect/>
          </a:stretch>
        </p:blipFill>
        <p:spPr>
          <a:xfrm>
            <a:off x="7217923" y="6188060"/>
            <a:ext cx="1926077" cy="6699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AR" dirty="0">
                <a:solidFill>
                  <a:srgbClr val="FF0000"/>
                </a:solidFill>
              </a:rPr>
              <a:t>Datos utilizados y características</a:t>
            </a:r>
            <a:endParaRPr lang="es-AR" noProof="0" dirty="0">
              <a:solidFill>
                <a:srgbClr val="FF0000"/>
              </a:solidFill>
            </a:endParaRPr>
          </a:p>
        </p:txBody>
      </p:sp>
      <p:sp>
        <p:nvSpPr>
          <p:cNvPr id="4" name="Content Placeholder 2">
            <a:extLst>
              <a:ext uri="{FF2B5EF4-FFF2-40B4-BE49-F238E27FC236}">
                <a16:creationId xmlns:a16="http://schemas.microsoft.com/office/drawing/2014/main" id="{271BA424-98CF-D6B4-CADD-64BC326402DC}"/>
              </a:ext>
            </a:extLst>
          </p:cNvPr>
          <p:cNvSpPr txBox="1">
            <a:spLocks/>
          </p:cNvSpPr>
          <p:nvPr/>
        </p:nvSpPr>
        <p:spPr>
          <a:xfrm>
            <a:off x="535022" y="1337553"/>
            <a:ext cx="8229600" cy="5265264"/>
          </a:xfrm>
          <a:prstGeom prst="rect">
            <a:avLst/>
          </a:prstGeom>
        </p:spPr>
        <p:txBody>
          <a:bodyPr vert="horz" lIns="91440" tIns="45720" rIns="91440" bIns="45720" rtlCol="0">
            <a:normAutofit fontScale="250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s-ES" sz="7200" b="1" dirty="0"/>
              <a:t>Datos utilizados</a:t>
            </a:r>
          </a:p>
          <a:p>
            <a:r>
              <a:rPr lang="es-ES" sz="5500" dirty="0" err="1"/>
              <a:t>Dataset</a:t>
            </a:r>
            <a:r>
              <a:rPr lang="es-ES" sz="5500" dirty="0"/>
              <a:t>: </a:t>
            </a:r>
            <a:r>
              <a:rPr lang="es-ES" sz="5500" b="1" dirty="0"/>
              <a:t>IBM </a:t>
            </a:r>
            <a:r>
              <a:rPr lang="es-ES" sz="5500" b="1" dirty="0" err="1"/>
              <a:t>AMLSim</a:t>
            </a:r>
            <a:r>
              <a:rPr lang="es-ES" sz="5500" b="1" dirty="0"/>
              <a:t> </a:t>
            </a:r>
            <a:r>
              <a:rPr lang="es-ES" sz="5500" dirty="0"/>
              <a:t>(Anti Money </a:t>
            </a:r>
            <a:r>
              <a:rPr lang="es-ES" sz="5500" dirty="0" err="1"/>
              <a:t>Laundering</a:t>
            </a:r>
            <a:r>
              <a:rPr lang="es-ES" sz="5500" dirty="0"/>
              <a:t>) </a:t>
            </a:r>
          </a:p>
          <a:p>
            <a:r>
              <a:rPr lang="es-ES" sz="5500" dirty="0"/>
              <a:t>Simula un sistema bancario real con: </a:t>
            </a:r>
          </a:p>
          <a:p>
            <a:pPr lvl="1"/>
            <a:r>
              <a:rPr lang="es-ES" sz="5500" dirty="0"/>
              <a:t>Millones de transacciones </a:t>
            </a:r>
          </a:p>
          <a:p>
            <a:pPr lvl="1"/>
            <a:r>
              <a:rPr lang="es-ES" sz="5500" dirty="0"/>
              <a:t>Múltiples tipos de pago (ACH, </a:t>
            </a:r>
            <a:r>
              <a:rPr lang="es-ES" sz="5500" dirty="0" err="1"/>
              <a:t>wire</a:t>
            </a:r>
            <a:r>
              <a:rPr lang="es-ES" sz="5500" dirty="0"/>
              <a:t>, </a:t>
            </a:r>
            <a:r>
              <a:rPr lang="es-ES" sz="5500" dirty="0" err="1"/>
              <a:t>crypto</a:t>
            </a:r>
            <a:r>
              <a:rPr lang="es-ES" sz="5500" dirty="0"/>
              <a:t>, etc.) </a:t>
            </a:r>
          </a:p>
          <a:p>
            <a:pPr lvl="1"/>
            <a:r>
              <a:rPr lang="es-ES" sz="5500" dirty="0"/>
              <a:t>Diferentes monedas y </a:t>
            </a:r>
            <a:r>
              <a:rPr lang="es-ES" sz="5500" dirty="0" err="1"/>
              <a:t>timestamps</a:t>
            </a:r>
            <a:endParaRPr lang="es-ES" sz="5500" dirty="0"/>
          </a:p>
          <a:p>
            <a:pPr marL="0" indent="0">
              <a:buNone/>
            </a:pPr>
            <a:endParaRPr lang="es-ES" sz="5500" dirty="0"/>
          </a:p>
          <a:p>
            <a:pPr marL="0" indent="0">
              <a:buNone/>
            </a:pPr>
            <a:r>
              <a:rPr lang="es-ES" sz="7200" b="1" dirty="0"/>
              <a:t>Estructura del </a:t>
            </a:r>
            <a:r>
              <a:rPr lang="es-ES" sz="7200" b="1" dirty="0" err="1"/>
              <a:t>dataset</a:t>
            </a:r>
            <a:endParaRPr lang="es-ES" sz="7200" b="1" dirty="0"/>
          </a:p>
          <a:p>
            <a:r>
              <a:rPr lang="es-ES" sz="5500" dirty="0"/>
              <a:t>HI-Small_Trans.csv → información de transacciones </a:t>
            </a:r>
          </a:p>
          <a:p>
            <a:r>
              <a:rPr lang="es-ES" sz="5500" dirty="0"/>
              <a:t>HI-Small_accounts.csv → datos de cuentas</a:t>
            </a:r>
          </a:p>
          <a:p>
            <a:pPr marL="457200" lvl="1" indent="0">
              <a:buNone/>
            </a:pPr>
            <a:endParaRPr lang="es-ES" sz="5500" dirty="0"/>
          </a:p>
          <a:p>
            <a:pPr marL="0" indent="0">
              <a:buNone/>
            </a:pPr>
            <a:endParaRPr lang="es-ES" sz="5500" dirty="0"/>
          </a:p>
          <a:p>
            <a:pPr marL="0" indent="0">
              <a:buNone/>
            </a:pPr>
            <a:r>
              <a:rPr lang="es-ES" sz="7200" b="1" dirty="0"/>
              <a:t>Características clave</a:t>
            </a:r>
          </a:p>
          <a:p>
            <a:r>
              <a:rPr lang="es-ES" sz="5500" dirty="0"/>
              <a:t>+5 millones de transacciones </a:t>
            </a:r>
          </a:p>
          <a:p>
            <a:r>
              <a:rPr lang="es-ES" sz="5500" dirty="0"/>
              <a:t>+500 mil cuentas </a:t>
            </a:r>
          </a:p>
          <a:p>
            <a:r>
              <a:rPr lang="es-ES" sz="5500" dirty="0"/>
              <a:t>Variable objetivo: </a:t>
            </a:r>
            <a:r>
              <a:rPr lang="es-ES" sz="5500" dirty="0" err="1"/>
              <a:t>Is</a:t>
            </a:r>
            <a:r>
              <a:rPr lang="es-ES" sz="5500" dirty="0"/>
              <a:t> </a:t>
            </a:r>
            <a:r>
              <a:rPr lang="es-ES" sz="5500" dirty="0" err="1"/>
              <a:t>Laundering</a:t>
            </a:r>
            <a:r>
              <a:rPr lang="es-ES" sz="5500" dirty="0"/>
              <a:t> (binaria) </a:t>
            </a:r>
          </a:p>
          <a:p>
            <a:br>
              <a:rPr lang="es-ES" sz="5500" dirty="0"/>
            </a:br>
            <a:endParaRPr lang="es-ES" sz="5500" dirty="0"/>
          </a:p>
          <a:p>
            <a:pPr marL="0" indent="0">
              <a:buNone/>
            </a:pPr>
            <a:r>
              <a:rPr lang="es-ES" sz="7200" b="1" dirty="0"/>
              <a:t>Particularidad del </a:t>
            </a:r>
            <a:r>
              <a:rPr lang="es-ES" sz="7200" b="1" dirty="0" err="1"/>
              <a:t>dataset</a:t>
            </a:r>
            <a:endParaRPr lang="es-ES" sz="7200" b="1" dirty="0"/>
          </a:p>
          <a:p>
            <a:r>
              <a:rPr lang="es-ES" sz="5500" dirty="0"/>
              <a:t>Fuerte desbalance de clases </a:t>
            </a:r>
          </a:p>
          <a:p>
            <a:r>
              <a:rPr lang="es-ES" sz="5500" dirty="0"/>
              <a:t>Las transacciones fraudulentas representan una mínima proporción </a:t>
            </a:r>
          </a:p>
          <a:p>
            <a:r>
              <a:rPr lang="es-ES" sz="5500" dirty="0"/>
              <a:t>Escenario realista en problemas de AML </a:t>
            </a:r>
          </a:p>
          <a:p>
            <a:r>
              <a:rPr lang="es-ES" sz="5500" dirty="0"/>
              <a:t>Requiere técnicas específicas de modelado</a:t>
            </a:r>
          </a:p>
          <a:p>
            <a:pPr marL="457200" lvl="1" indent="0">
              <a:buNone/>
            </a:pPr>
            <a:endParaRPr lang="es-ES" sz="1800" dirty="0"/>
          </a:p>
        </p:txBody>
      </p:sp>
      <p:pic>
        <p:nvPicPr>
          <p:cNvPr id="7" name="Imagen 6">
            <a:extLst>
              <a:ext uri="{FF2B5EF4-FFF2-40B4-BE49-F238E27FC236}">
                <a16:creationId xmlns:a16="http://schemas.microsoft.com/office/drawing/2014/main" id="{916AEB5E-E88E-9CE0-3A8C-F255365C77DC}"/>
              </a:ext>
            </a:extLst>
          </p:cNvPr>
          <p:cNvPicPr>
            <a:picLocks noChangeAspect="1"/>
          </p:cNvPicPr>
          <p:nvPr/>
        </p:nvPicPr>
        <p:blipFill>
          <a:blip r:embed="rId2"/>
          <a:stretch>
            <a:fillRect/>
          </a:stretch>
        </p:blipFill>
        <p:spPr>
          <a:xfrm>
            <a:off x="7217923" y="6188060"/>
            <a:ext cx="1926077" cy="6699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s-AR" b="1" dirty="0">
                <a:solidFill>
                  <a:srgbClr val="FF0000"/>
                </a:solidFill>
              </a:rPr>
              <a:t>Análisis Exploratorio de Datos (EDA)</a:t>
            </a:r>
            <a:endParaRPr lang="es-AR" noProof="0" dirty="0">
              <a:solidFill>
                <a:srgbClr val="FF0000"/>
              </a:solidFill>
            </a:endParaRPr>
          </a:p>
        </p:txBody>
      </p:sp>
      <p:sp>
        <p:nvSpPr>
          <p:cNvPr id="3" name="Content Placeholder 2"/>
          <p:cNvSpPr>
            <a:spLocks noGrp="1"/>
          </p:cNvSpPr>
          <p:nvPr>
            <p:ph idx="1"/>
          </p:nvPr>
        </p:nvSpPr>
        <p:spPr/>
        <p:txBody>
          <a:bodyPr>
            <a:normAutofit fontScale="70000" lnSpcReduction="20000"/>
          </a:bodyPr>
          <a:lstStyle/>
          <a:p>
            <a:pPr marL="0" indent="0">
              <a:buNone/>
            </a:pPr>
            <a:r>
              <a:rPr lang="es-AR" dirty="0"/>
              <a:t>Se realizó un análisis exploratorio con el objetivo de comprender la estructura del </a:t>
            </a:r>
            <a:r>
              <a:rPr lang="es-AR" dirty="0" err="1"/>
              <a:t>dataset</a:t>
            </a:r>
            <a:r>
              <a:rPr lang="es-AR" dirty="0"/>
              <a:t>, identificar patrones relevantes y evaluar la calidad de los datos.</a:t>
            </a:r>
          </a:p>
          <a:p>
            <a:pPr marL="0" indent="0">
              <a:buNone/>
            </a:pPr>
            <a:endParaRPr lang="es-AR" dirty="0"/>
          </a:p>
          <a:p>
            <a:pPr marL="0" indent="0">
              <a:buNone/>
            </a:pPr>
            <a:r>
              <a:rPr lang="es-AR" dirty="0"/>
              <a:t>Durante esta etapa se analizaron:</a:t>
            </a:r>
          </a:p>
          <a:p>
            <a:pPr lvl="0"/>
            <a:r>
              <a:rPr lang="es-AR" dirty="0"/>
              <a:t>Distribución de montos transaccionales </a:t>
            </a:r>
          </a:p>
          <a:p>
            <a:pPr lvl="0"/>
            <a:r>
              <a:rPr lang="es-AR" dirty="0"/>
              <a:t>Frecuencia de transacciones por tipo de pago </a:t>
            </a:r>
          </a:p>
          <a:p>
            <a:pPr lvl="0"/>
            <a:r>
              <a:rPr lang="es-AR" dirty="0"/>
              <a:t>Comportamiento temporal de las operaciones </a:t>
            </a:r>
          </a:p>
          <a:p>
            <a:pPr lvl="0"/>
            <a:r>
              <a:rPr lang="es-AR" dirty="0"/>
              <a:t>Diferencias entre transacciones legítimas y potencialmente ilícitas </a:t>
            </a:r>
          </a:p>
          <a:p>
            <a:pPr marL="0" indent="0">
              <a:buNone/>
            </a:pPr>
            <a:endParaRPr lang="es-AR" dirty="0"/>
          </a:p>
          <a:p>
            <a:pPr marL="0" indent="0">
              <a:buNone/>
            </a:pPr>
            <a:r>
              <a:rPr lang="es-AR" dirty="0"/>
              <a:t>El análisis permitió identificar que ciertas variables, como el monto de la transacción, el tipo de pago y el comportamiento temporal, presentan patrones diferenciados que pueden ser aprovechados por modelos predictivos.</a:t>
            </a:r>
          </a:p>
        </p:txBody>
      </p:sp>
      <p:pic>
        <p:nvPicPr>
          <p:cNvPr id="4" name="Imagen 3">
            <a:extLst>
              <a:ext uri="{FF2B5EF4-FFF2-40B4-BE49-F238E27FC236}">
                <a16:creationId xmlns:a16="http://schemas.microsoft.com/office/drawing/2014/main" id="{CE9E1416-4561-0BDF-FCE4-CCCD31AC4CA5}"/>
              </a:ext>
            </a:extLst>
          </p:cNvPr>
          <p:cNvPicPr>
            <a:picLocks noChangeAspect="1"/>
          </p:cNvPicPr>
          <p:nvPr/>
        </p:nvPicPr>
        <p:blipFill>
          <a:blip r:embed="rId2"/>
          <a:stretch>
            <a:fillRect/>
          </a:stretch>
        </p:blipFill>
        <p:spPr>
          <a:xfrm>
            <a:off x="7217923" y="6188060"/>
            <a:ext cx="1926077" cy="6699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AR" noProof="0" dirty="0">
                <a:solidFill>
                  <a:srgbClr val="FF0000"/>
                </a:solidFill>
              </a:rPr>
              <a:t>Modelos y </a:t>
            </a:r>
            <a:r>
              <a:rPr lang="es-AR" noProof="0" dirty="0" err="1">
                <a:solidFill>
                  <a:srgbClr val="FF0000"/>
                </a:solidFill>
              </a:rPr>
              <a:t>Metricas</a:t>
            </a:r>
            <a:endParaRPr lang="es-AR" noProof="0" dirty="0">
              <a:solidFill>
                <a:srgbClr val="FF0000"/>
              </a:solidFill>
            </a:endParaRPr>
          </a:p>
        </p:txBody>
      </p:sp>
      <p:sp>
        <p:nvSpPr>
          <p:cNvPr id="3" name="Content Placeholder 2"/>
          <p:cNvSpPr>
            <a:spLocks noGrp="1"/>
          </p:cNvSpPr>
          <p:nvPr>
            <p:ph idx="1"/>
          </p:nvPr>
        </p:nvSpPr>
        <p:spPr>
          <a:xfrm>
            <a:off x="457200" y="1417638"/>
            <a:ext cx="8229600" cy="4525963"/>
          </a:xfrm>
        </p:spPr>
        <p:txBody>
          <a:bodyPr>
            <a:normAutofit fontScale="62500" lnSpcReduction="20000"/>
          </a:bodyPr>
          <a:lstStyle/>
          <a:p>
            <a:pPr marL="0" indent="0">
              <a:buNone/>
            </a:pPr>
            <a:r>
              <a:rPr lang="es-ES" b="1" dirty="0"/>
              <a:t>Modelos Evaluados</a:t>
            </a:r>
          </a:p>
          <a:p>
            <a:r>
              <a:rPr lang="es-ES" dirty="0"/>
              <a:t>Se probaron distintos algoritmos de clasificación: </a:t>
            </a:r>
          </a:p>
          <a:p>
            <a:pPr lvl="1"/>
            <a:r>
              <a:rPr lang="es-ES" b="1" dirty="0">
                <a:solidFill>
                  <a:srgbClr val="FF0000"/>
                </a:solidFill>
              </a:rPr>
              <a:t>Regresión Logística</a:t>
            </a:r>
            <a:r>
              <a:rPr lang="es-ES" dirty="0">
                <a:solidFill>
                  <a:srgbClr val="FF0000"/>
                </a:solidFill>
              </a:rPr>
              <a:t> </a:t>
            </a:r>
            <a:r>
              <a:rPr lang="es-ES" dirty="0"/>
              <a:t>→ </a:t>
            </a:r>
            <a:r>
              <a:rPr lang="es-ES" dirty="0" err="1"/>
              <a:t>baseline</a:t>
            </a:r>
            <a:r>
              <a:rPr lang="es-ES" dirty="0"/>
              <a:t> interpretable </a:t>
            </a:r>
          </a:p>
          <a:p>
            <a:pPr lvl="1"/>
            <a:r>
              <a:rPr lang="es-ES" b="1" dirty="0" err="1">
                <a:solidFill>
                  <a:srgbClr val="FF0000"/>
                </a:solidFill>
              </a:rPr>
              <a:t>Random</a:t>
            </a:r>
            <a:r>
              <a:rPr lang="es-ES" b="1" dirty="0">
                <a:solidFill>
                  <a:srgbClr val="FF0000"/>
                </a:solidFill>
              </a:rPr>
              <a:t> Forest</a:t>
            </a:r>
            <a:r>
              <a:rPr lang="es-ES" dirty="0">
                <a:solidFill>
                  <a:srgbClr val="FF0000"/>
                </a:solidFill>
              </a:rPr>
              <a:t> </a:t>
            </a:r>
            <a:r>
              <a:rPr lang="es-ES" dirty="0"/>
              <a:t>→ captura relaciones no lineales </a:t>
            </a:r>
          </a:p>
          <a:p>
            <a:pPr lvl="1"/>
            <a:r>
              <a:rPr lang="es-ES" b="1" dirty="0">
                <a:solidFill>
                  <a:srgbClr val="FF0000"/>
                </a:solidFill>
              </a:rPr>
              <a:t>LightGBM</a:t>
            </a:r>
            <a:r>
              <a:rPr lang="es-ES" dirty="0"/>
              <a:t> → modelo de </a:t>
            </a:r>
            <a:r>
              <a:rPr lang="es-ES" dirty="0" err="1"/>
              <a:t>boosting</a:t>
            </a:r>
            <a:r>
              <a:rPr lang="es-ES" dirty="0"/>
              <a:t> optimizado </a:t>
            </a:r>
          </a:p>
          <a:p>
            <a:r>
              <a:rPr lang="es-ES" dirty="0"/>
              <a:t>Objetivo: comparar modelos simples vs. avanzados en datos de gran escala </a:t>
            </a:r>
          </a:p>
          <a:p>
            <a:pPr marL="0" indent="0">
              <a:buNone/>
            </a:pPr>
            <a:br>
              <a:rPr lang="es-ES" dirty="0"/>
            </a:br>
            <a:endParaRPr lang="es-ES" dirty="0"/>
          </a:p>
          <a:p>
            <a:pPr marL="0" indent="0">
              <a:buNone/>
            </a:pPr>
            <a:r>
              <a:rPr lang="es-ES" b="1" dirty="0"/>
              <a:t>Métricas de Evaluación</a:t>
            </a:r>
          </a:p>
          <a:p>
            <a:r>
              <a:rPr lang="es-ES" b="1" dirty="0">
                <a:solidFill>
                  <a:srgbClr val="FF0000"/>
                </a:solidFill>
              </a:rPr>
              <a:t>Recall</a:t>
            </a:r>
            <a:r>
              <a:rPr lang="es-ES" dirty="0"/>
              <a:t> → detección de casos relevantes </a:t>
            </a:r>
          </a:p>
          <a:p>
            <a:r>
              <a:rPr lang="es-ES" b="1" dirty="0" err="1">
                <a:solidFill>
                  <a:srgbClr val="FF0000"/>
                </a:solidFill>
              </a:rPr>
              <a:t>Precision</a:t>
            </a:r>
            <a:r>
              <a:rPr lang="es-ES" dirty="0"/>
              <a:t> → calidad de las predicciones positivas </a:t>
            </a:r>
          </a:p>
          <a:p>
            <a:r>
              <a:rPr lang="es-ES" b="1" dirty="0">
                <a:solidFill>
                  <a:srgbClr val="FF0000"/>
                </a:solidFill>
              </a:rPr>
              <a:t>F1-score</a:t>
            </a:r>
            <a:r>
              <a:rPr lang="es-ES" dirty="0"/>
              <a:t> → balance entre </a:t>
            </a:r>
            <a:r>
              <a:rPr lang="es-ES" dirty="0" err="1"/>
              <a:t>precision</a:t>
            </a:r>
            <a:r>
              <a:rPr lang="es-ES" dirty="0"/>
              <a:t> y </a:t>
            </a:r>
            <a:r>
              <a:rPr lang="es-ES" dirty="0" err="1"/>
              <a:t>recall</a:t>
            </a:r>
            <a:r>
              <a:rPr lang="es-ES" dirty="0"/>
              <a:t> </a:t>
            </a:r>
          </a:p>
          <a:p>
            <a:r>
              <a:rPr lang="es-ES" b="1" dirty="0">
                <a:solidFill>
                  <a:srgbClr val="FF0000"/>
                </a:solidFill>
              </a:rPr>
              <a:t>ROC-AUC</a:t>
            </a:r>
            <a:r>
              <a:rPr lang="es-ES" dirty="0"/>
              <a:t> → capacidad global de discriminación </a:t>
            </a:r>
          </a:p>
          <a:p>
            <a:r>
              <a:rPr lang="es-ES" b="1" dirty="0">
                <a:solidFill>
                  <a:srgbClr val="FF0000"/>
                </a:solidFill>
              </a:rPr>
              <a:t>PR-AUC</a:t>
            </a:r>
            <a:r>
              <a:rPr lang="es-ES" dirty="0"/>
              <a:t> → clave en problemas con baja proporción de positivos</a:t>
            </a:r>
          </a:p>
        </p:txBody>
      </p:sp>
      <p:pic>
        <p:nvPicPr>
          <p:cNvPr id="4" name="Imagen 3">
            <a:extLst>
              <a:ext uri="{FF2B5EF4-FFF2-40B4-BE49-F238E27FC236}">
                <a16:creationId xmlns:a16="http://schemas.microsoft.com/office/drawing/2014/main" id="{9BE097F9-9B57-4465-27B2-9E810335A006}"/>
              </a:ext>
            </a:extLst>
          </p:cNvPr>
          <p:cNvPicPr>
            <a:picLocks noChangeAspect="1"/>
          </p:cNvPicPr>
          <p:nvPr/>
        </p:nvPicPr>
        <p:blipFill>
          <a:blip r:embed="rId2"/>
          <a:stretch>
            <a:fillRect/>
          </a:stretch>
        </p:blipFill>
        <p:spPr>
          <a:xfrm>
            <a:off x="7217923" y="6188060"/>
            <a:ext cx="1926077" cy="6699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AR" noProof="0" dirty="0">
                <a:solidFill>
                  <a:srgbClr val="FF0000"/>
                </a:solidFill>
              </a:rPr>
              <a:t>Resultados</a:t>
            </a:r>
          </a:p>
        </p:txBody>
      </p:sp>
      <p:sp>
        <p:nvSpPr>
          <p:cNvPr id="3" name="Content Placeholder 2"/>
          <p:cNvSpPr>
            <a:spLocks noGrp="1"/>
          </p:cNvSpPr>
          <p:nvPr>
            <p:ph idx="1"/>
          </p:nvPr>
        </p:nvSpPr>
        <p:spPr>
          <a:xfrm>
            <a:off x="282102" y="1250004"/>
            <a:ext cx="8229600" cy="5423170"/>
          </a:xfrm>
        </p:spPr>
        <p:txBody>
          <a:bodyPr>
            <a:noAutofit/>
          </a:bodyPr>
          <a:lstStyle/>
          <a:p>
            <a:pPr marL="0" indent="0">
              <a:buNone/>
            </a:pPr>
            <a:r>
              <a:rPr lang="es-ES" sz="2000" b="1" dirty="0"/>
              <a:t>Resultados y Modelo Final</a:t>
            </a:r>
          </a:p>
          <a:p>
            <a:r>
              <a:rPr lang="es-ES" sz="2000" dirty="0"/>
              <a:t>Se seleccionó </a:t>
            </a:r>
            <a:r>
              <a:rPr lang="es-ES" sz="2000" b="1" dirty="0"/>
              <a:t>LightGBM</a:t>
            </a:r>
            <a:r>
              <a:rPr lang="es-ES" sz="2000" dirty="0"/>
              <a:t> como modelo final </a:t>
            </a:r>
          </a:p>
          <a:p>
            <a:r>
              <a:rPr lang="es-ES" sz="2000" dirty="0"/>
              <a:t>Principales ventajas: </a:t>
            </a:r>
          </a:p>
          <a:p>
            <a:pPr lvl="1"/>
            <a:r>
              <a:rPr lang="es-ES" sz="2000" b="1" dirty="0">
                <a:solidFill>
                  <a:srgbClr val="FF0000"/>
                </a:solidFill>
              </a:rPr>
              <a:t>Alto </a:t>
            </a:r>
            <a:r>
              <a:rPr lang="es-ES" sz="2000" b="1" dirty="0" err="1">
                <a:solidFill>
                  <a:srgbClr val="FF0000"/>
                </a:solidFill>
              </a:rPr>
              <a:t>recall</a:t>
            </a:r>
            <a:r>
              <a:rPr lang="es-ES" sz="2000" b="1" dirty="0">
                <a:solidFill>
                  <a:srgbClr val="FF0000"/>
                </a:solidFill>
              </a:rPr>
              <a:t> (&gt;85%)</a:t>
            </a:r>
            <a:r>
              <a:rPr lang="es-ES" sz="2000" dirty="0">
                <a:solidFill>
                  <a:srgbClr val="FF0000"/>
                </a:solidFill>
              </a:rPr>
              <a:t> </a:t>
            </a:r>
            <a:r>
              <a:rPr lang="es-ES" sz="2000" dirty="0"/>
              <a:t>→ detecta la mayoría de los casos </a:t>
            </a:r>
          </a:p>
          <a:p>
            <a:pPr lvl="1"/>
            <a:r>
              <a:rPr lang="es-ES" sz="2000" b="1" dirty="0">
                <a:solidFill>
                  <a:srgbClr val="FF0000"/>
                </a:solidFill>
              </a:rPr>
              <a:t>ROC-AUC &gt; 0.98</a:t>
            </a:r>
            <a:r>
              <a:rPr lang="es-ES" sz="2000" dirty="0">
                <a:solidFill>
                  <a:srgbClr val="FF0000"/>
                </a:solidFill>
              </a:rPr>
              <a:t> </a:t>
            </a:r>
            <a:r>
              <a:rPr lang="es-ES" sz="2000" dirty="0"/>
              <a:t>→ excelente capacidad de discriminación </a:t>
            </a:r>
          </a:p>
          <a:p>
            <a:pPr lvl="1"/>
            <a:r>
              <a:rPr lang="es-ES" sz="2000" dirty="0"/>
              <a:t>Captura relaciones complejas en grandes volúmenes de datos </a:t>
            </a:r>
          </a:p>
          <a:p>
            <a:r>
              <a:rPr lang="es-ES" sz="2000" dirty="0"/>
              <a:t>Fuerte capacidad de detección de transacciones sospechosas </a:t>
            </a:r>
          </a:p>
          <a:p>
            <a:pPr marL="0" indent="0">
              <a:buNone/>
            </a:pPr>
            <a:endParaRPr lang="es-ES" sz="2000" b="1" dirty="0"/>
          </a:p>
          <a:p>
            <a:pPr marL="0" indent="0">
              <a:buNone/>
            </a:pPr>
            <a:r>
              <a:rPr lang="es-ES" sz="2000" b="1" dirty="0"/>
              <a:t>Observaciones y estrategias aplicadas:</a:t>
            </a:r>
            <a:r>
              <a:rPr lang="es-ES" sz="2000" dirty="0"/>
              <a:t> </a:t>
            </a:r>
          </a:p>
          <a:p>
            <a:r>
              <a:rPr lang="es-ES" sz="2000" dirty="0" err="1"/>
              <a:t>Precision</a:t>
            </a:r>
            <a:r>
              <a:rPr lang="es-ES" sz="2000" dirty="0"/>
              <a:t> baja → presencia de falsos positivos </a:t>
            </a:r>
          </a:p>
          <a:p>
            <a:r>
              <a:rPr lang="es-ES" sz="2000" dirty="0" err="1"/>
              <a:t>Trade</a:t>
            </a:r>
            <a:r>
              <a:rPr lang="es-ES" sz="2000" dirty="0"/>
              <a:t>-off esperado en problemas de este tipo </a:t>
            </a:r>
          </a:p>
          <a:p>
            <a:r>
              <a:rPr lang="es-ES" sz="2000" dirty="0"/>
              <a:t>Ajuste de </a:t>
            </a:r>
            <a:r>
              <a:rPr lang="es-ES" sz="2000" b="1" dirty="0" err="1"/>
              <a:t>threshold</a:t>
            </a:r>
            <a:r>
              <a:rPr lang="es-ES" sz="2000" dirty="0"/>
              <a:t> </a:t>
            </a:r>
          </a:p>
          <a:p>
            <a:r>
              <a:rPr lang="es-ES" sz="2000" dirty="0"/>
              <a:t>Reponderación de clases (</a:t>
            </a:r>
            <a:r>
              <a:rPr lang="es-ES" sz="2000" b="1" dirty="0" err="1"/>
              <a:t>scale_pos_weight</a:t>
            </a:r>
            <a:r>
              <a:rPr lang="es-ES" sz="2000" dirty="0"/>
              <a:t>) </a:t>
            </a:r>
          </a:p>
          <a:p>
            <a:r>
              <a:rPr lang="es-ES" sz="2000" dirty="0"/>
              <a:t>Técnicas de balanceo (</a:t>
            </a:r>
            <a:r>
              <a:rPr lang="es-ES" sz="2000" b="1" dirty="0"/>
              <a:t>SMOTE</a:t>
            </a:r>
            <a:r>
              <a:rPr lang="es-ES" sz="2000" dirty="0"/>
              <a:t>)</a:t>
            </a:r>
          </a:p>
        </p:txBody>
      </p:sp>
      <p:pic>
        <p:nvPicPr>
          <p:cNvPr id="4" name="Imagen 3">
            <a:extLst>
              <a:ext uri="{FF2B5EF4-FFF2-40B4-BE49-F238E27FC236}">
                <a16:creationId xmlns:a16="http://schemas.microsoft.com/office/drawing/2014/main" id="{57D8AC14-F5AC-0E15-D0CB-3C44069C5CEA}"/>
              </a:ext>
            </a:extLst>
          </p:cNvPr>
          <p:cNvPicPr>
            <a:picLocks noChangeAspect="1"/>
          </p:cNvPicPr>
          <p:nvPr/>
        </p:nvPicPr>
        <p:blipFill>
          <a:blip r:embed="rId2"/>
          <a:stretch>
            <a:fillRect/>
          </a:stretch>
        </p:blipFill>
        <p:spPr>
          <a:xfrm>
            <a:off x="7217923" y="6188060"/>
            <a:ext cx="1926077" cy="6699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AR" noProof="0" dirty="0">
                <a:solidFill>
                  <a:srgbClr val="FF0000"/>
                </a:solidFill>
              </a:rPr>
              <a:t>Impacto y beneficios</a:t>
            </a:r>
          </a:p>
        </p:txBody>
      </p:sp>
      <p:sp>
        <p:nvSpPr>
          <p:cNvPr id="3" name="Content Placeholder 2"/>
          <p:cNvSpPr>
            <a:spLocks noGrp="1"/>
          </p:cNvSpPr>
          <p:nvPr>
            <p:ph idx="1"/>
          </p:nvPr>
        </p:nvSpPr>
        <p:spPr/>
        <p:txBody>
          <a:bodyPr>
            <a:normAutofit fontScale="70000" lnSpcReduction="20000"/>
          </a:bodyPr>
          <a:lstStyle/>
          <a:p>
            <a:pPr marL="0" indent="0">
              <a:buNone/>
            </a:pPr>
            <a:r>
              <a:rPr lang="es-ES" b="1" dirty="0"/>
              <a:t>Impacto en el Negocio</a:t>
            </a:r>
          </a:p>
          <a:p>
            <a:r>
              <a:rPr lang="es-ES" dirty="0"/>
              <a:t>El modelo permite transformar datos en </a:t>
            </a:r>
            <a:r>
              <a:rPr lang="es-ES" b="1" dirty="0"/>
              <a:t>acciones concretas</a:t>
            </a:r>
            <a:r>
              <a:rPr lang="es-ES" dirty="0"/>
              <a:t> </a:t>
            </a:r>
          </a:p>
          <a:p>
            <a:r>
              <a:rPr lang="es-ES" dirty="0"/>
              <a:t>Mejora la </a:t>
            </a:r>
            <a:r>
              <a:rPr lang="es-ES" b="1" dirty="0"/>
              <a:t>detección temprana</a:t>
            </a:r>
            <a:r>
              <a:rPr lang="es-ES" dirty="0"/>
              <a:t> de transacciones sospechosas </a:t>
            </a:r>
          </a:p>
          <a:p>
            <a:r>
              <a:rPr lang="es-ES" dirty="0"/>
              <a:t>Aumenta la capacidad de respuesta ante eventos críticos </a:t>
            </a:r>
          </a:p>
          <a:p>
            <a:pPr marL="0" indent="0">
              <a:buNone/>
            </a:pPr>
            <a:br>
              <a:rPr lang="es-ES" dirty="0"/>
            </a:br>
            <a:endParaRPr lang="es-ES" dirty="0"/>
          </a:p>
          <a:p>
            <a:pPr marL="0" indent="0">
              <a:buNone/>
            </a:pPr>
            <a:r>
              <a:rPr lang="es-ES" b="1" dirty="0"/>
              <a:t>Beneficios Clave</a:t>
            </a:r>
          </a:p>
          <a:p>
            <a:r>
              <a:rPr lang="es-ES" dirty="0"/>
              <a:t>Identificación temprana de posibles fraudes </a:t>
            </a:r>
          </a:p>
          <a:p>
            <a:r>
              <a:rPr lang="es-ES" dirty="0"/>
              <a:t>Priorización de casos para equipos de </a:t>
            </a:r>
            <a:r>
              <a:rPr lang="es-ES" b="1" dirty="0"/>
              <a:t>Riesgo / </a:t>
            </a:r>
            <a:r>
              <a:rPr lang="es-ES" b="1" dirty="0" err="1"/>
              <a:t>Compliance</a:t>
            </a:r>
            <a:r>
              <a:rPr lang="es-ES" dirty="0"/>
              <a:t> </a:t>
            </a:r>
          </a:p>
          <a:p>
            <a:r>
              <a:rPr lang="es-ES" dirty="0"/>
              <a:t>Reducción de riesgos regulatorios y financieros </a:t>
            </a:r>
          </a:p>
          <a:p>
            <a:r>
              <a:rPr lang="es-ES" dirty="0"/>
              <a:t>Automatización del monitoreo </a:t>
            </a:r>
          </a:p>
          <a:p>
            <a:r>
              <a:rPr lang="es-ES" dirty="0"/>
              <a:t>Mejora en la </a:t>
            </a:r>
            <a:r>
              <a:rPr lang="es-ES" b="1" dirty="0"/>
              <a:t>eficiencia operativa</a:t>
            </a:r>
            <a:r>
              <a:rPr lang="es-ES" dirty="0"/>
              <a:t> </a:t>
            </a:r>
          </a:p>
          <a:p>
            <a:r>
              <a:rPr lang="es-ES" dirty="0"/>
              <a:t>Generación de </a:t>
            </a:r>
            <a:r>
              <a:rPr lang="es-ES" b="1" dirty="0"/>
              <a:t>alertas tempranas</a:t>
            </a:r>
            <a:endParaRPr lang="es-ES" dirty="0"/>
          </a:p>
        </p:txBody>
      </p:sp>
      <p:pic>
        <p:nvPicPr>
          <p:cNvPr id="4" name="Imagen 3">
            <a:extLst>
              <a:ext uri="{FF2B5EF4-FFF2-40B4-BE49-F238E27FC236}">
                <a16:creationId xmlns:a16="http://schemas.microsoft.com/office/drawing/2014/main" id="{22856673-1784-174A-1B4A-551AD887CCCA}"/>
              </a:ext>
            </a:extLst>
          </p:cNvPr>
          <p:cNvPicPr>
            <a:picLocks noChangeAspect="1"/>
          </p:cNvPicPr>
          <p:nvPr/>
        </p:nvPicPr>
        <p:blipFill>
          <a:blip r:embed="rId2"/>
          <a:stretch>
            <a:fillRect/>
          </a:stretch>
        </p:blipFill>
        <p:spPr>
          <a:xfrm>
            <a:off x="7217923" y="6188060"/>
            <a:ext cx="1926077" cy="6699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AR" noProof="0" dirty="0">
                <a:solidFill>
                  <a:srgbClr val="FF0000"/>
                </a:solidFill>
              </a:rPr>
              <a:t>Conclusión</a:t>
            </a:r>
          </a:p>
        </p:txBody>
      </p:sp>
      <p:sp>
        <p:nvSpPr>
          <p:cNvPr id="3" name="Content Placeholder 2"/>
          <p:cNvSpPr>
            <a:spLocks noGrp="1"/>
          </p:cNvSpPr>
          <p:nvPr>
            <p:ph idx="1"/>
          </p:nvPr>
        </p:nvSpPr>
        <p:spPr/>
        <p:txBody>
          <a:bodyPr>
            <a:normAutofit fontScale="77500" lnSpcReduction="20000"/>
          </a:bodyPr>
          <a:lstStyle/>
          <a:p>
            <a:pPr marL="0" indent="0">
              <a:buNone/>
            </a:pPr>
            <a:r>
              <a:rPr lang="es-ES" dirty="0"/>
              <a:t>Este trabajo abordó la detección de transacciones asociadas a lavado de dinero mediante modelos de </a:t>
            </a:r>
            <a:r>
              <a:rPr lang="es-ES" dirty="0">
                <a:solidFill>
                  <a:srgbClr val="FF0000"/>
                </a:solidFill>
              </a:rPr>
              <a:t>Machine </a:t>
            </a:r>
            <a:r>
              <a:rPr lang="es-ES" dirty="0" err="1">
                <a:solidFill>
                  <a:srgbClr val="FF0000"/>
                </a:solidFill>
              </a:rPr>
              <a:t>Learning</a:t>
            </a:r>
            <a:r>
              <a:rPr lang="es-ES" dirty="0">
                <a:solidFill>
                  <a:srgbClr val="FF0000"/>
                </a:solidFill>
              </a:rPr>
              <a:t> </a:t>
            </a:r>
            <a:r>
              <a:rPr lang="es-ES" dirty="0"/>
              <a:t>aplicados a un </a:t>
            </a:r>
            <a:r>
              <a:rPr lang="es-ES" dirty="0" err="1"/>
              <a:t>dataset</a:t>
            </a:r>
            <a:r>
              <a:rPr lang="es-ES" dirty="0"/>
              <a:t> de gran escala. Se compararon distintos enfoques, evidenciando que a mayor complejidad del modelo, mejor capacidad para capturar patrones en los datos. En este contexto, </a:t>
            </a:r>
            <a:r>
              <a:rPr lang="es-ES" dirty="0">
                <a:solidFill>
                  <a:srgbClr val="FF0000"/>
                </a:solidFill>
              </a:rPr>
              <a:t>LightGBM</a:t>
            </a:r>
            <a:r>
              <a:rPr lang="es-ES" dirty="0"/>
              <a:t> se posiciona como la mejor alternativa, destacándose por su alto poder de discriminación, eficiencia y escalabilidad. Si bien persiste el desafío de mejorar la precisión en la clase minoritaria, los resultados obtenidos demuestran que el modelo constituye una base sólida para su aplicación en entornos reales, con potencial de evolución mediante nuevas variables y enfoques complementarios.</a:t>
            </a:r>
            <a:endParaRPr lang="es-AR" noProof="0" dirty="0"/>
          </a:p>
        </p:txBody>
      </p:sp>
      <p:pic>
        <p:nvPicPr>
          <p:cNvPr id="4" name="Imagen 3">
            <a:extLst>
              <a:ext uri="{FF2B5EF4-FFF2-40B4-BE49-F238E27FC236}">
                <a16:creationId xmlns:a16="http://schemas.microsoft.com/office/drawing/2014/main" id="{95DDA2B5-460E-6481-B7FD-F5587EF346DC}"/>
              </a:ext>
            </a:extLst>
          </p:cNvPr>
          <p:cNvPicPr>
            <a:picLocks noChangeAspect="1"/>
          </p:cNvPicPr>
          <p:nvPr/>
        </p:nvPicPr>
        <p:blipFill>
          <a:blip r:embed="rId2"/>
          <a:stretch>
            <a:fillRect/>
          </a:stretch>
        </p:blipFill>
        <p:spPr>
          <a:xfrm>
            <a:off x="7217923" y="6188060"/>
            <a:ext cx="1926077" cy="6699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2185</TotalTime>
  <Words>767</Words>
  <Application>Microsoft Office PowerPoint</Application>
  <PresentationFormat>Presentación en pantalla (4:3)</PresentationFormat>
  <Paragraphs>105</Paragraphs>
  <Slides>9</Slides>
  <Notes>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9</vt:i4>
      </vt:variant>
    </vt:vector>
  </HeadingPairs>
  <TitlesOfParts>
    <vt:vector size="13" baseType="lpstr">
      <vt:lpstr>Aptos</vt:lpstr>
      <vt:lpstr>Arial</vt:lpstr>
      <vt:lpstr>Calibri</vt:lpstr>
      <vt:lpstr>Office Theme</vt:lpstr>
      <vt:lpstr>Presentación de PowerPoint</vt:lpstr>
      <vt:lpstr>Resumen Ejecutivo</vt:lpstr>
      <vt:lpstr>Problema y Objetivo</vt:lpstr>
      <vt:lpstr>Datos utilizados y características</vt:lpstr>
      <vt:lpstr>Análisis Exploratorio de Datos (EDA)</vt:lpstr>
      <vt:lpstr>Modelos y Metricas</vt:lpstr>
      <vt:lpstr>Resultados</vt:lpstr>
      <vt:lpstr>Impacto y beneficios</vt:lpstr>
      <vt:lpstr>Conclusión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Tomas Sezaro</cp:lastModifiedBy>
  <cp:revision>4</cp:revision>
  <dcterms:created xsi:type="dcterms:W3CDTF">2013-01-27T09:14:16Z</dcterms:created>
  <dcterms:modified xsi:type="dcterms:W3CDTF">2026-03-23T12:59:39Z</dcterms:modified>
  <cp:category/>
</cp:coreProperties>
</file>